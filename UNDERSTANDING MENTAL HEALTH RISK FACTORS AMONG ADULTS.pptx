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1" r:id="rId5"/>
    <p:sldId id="264" r:id="rId6"/>
    <p:sldId id="265" r:id="rId7"/>
    <p:sldId id="262" r:id="rId8"/>
    <p:sldId id="26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81" r:id="rId17"/>
    <p:sldId id="282" r:id="rId18"/>
    <p:sldId id="283" r:id="rId19"/>
    <p:sldId id="285" r:id="rId20"/>
    <p:sldId id="286" r:id="rId21"/>
    <p:sldId id="287" r:id="rId22"/>
    <p:sldId id="288" r:id="rId23"/>
    <p:sldId id="289" r:id="rId24"/>
    <p:sldId id="291" r:id="rId25"/>
    <p:sldId id="29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961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746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937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891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714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733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601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683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5976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235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022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04D3A-9AFE-4BE8-AD82-D526D3876E81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7007FB6-BBDB-40D6-8E4E-551C92BA742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59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56D44-D3F0-405D-8E0B-F3B5305319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b="1" dirty="0"/>
              <a:t>UNDERSTANDING MENTAL HEALTH RISK FACTORS AMONG ADULTS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452D8-6239-4DA2-B245-41010F303F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232667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dirty="0"/>
              <a:t>PRESENTED BY;</a:t>
            </a:r>
          </a:p>
          <a:p>
            <a:pPr algn="ctr"/>
            <a:r>
              <a:rPr lang="en-US" dirty="0"/>
              <a:t>TETE J. TEDI</a:t>
            </a:r>
          </a:p>
          <a:p>
            <a:pPr algn="ctr"/>
            <a:r>
              <a:rPr lang="en-US" dirty="0"/>
              <a:t>SUPERVISED BY;</a:t>
            </a:r>
          </a:p>
          <a:p>
            <a:pPr algn="ctr"/>
            <a:r>
              <a:rPr lang="en-US" dirty="0"/>
              <a:t>ANALYST FLORENCE OPARA</a:t>
            </a:r>
          </a:p>
          <a:p>
            <a:pPr algn="ctr"/>
            <a:r>
              <a:rPr lang="en-US" dirty="0"/>
              <a:t>JULY,2026</a:t>
            </a:r>
          </a:p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4CD6BD-8E53-401C-94D2-54F7B9BB23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49" b="89880" l="1199" r="96233">
                        <a14:foregroundMark x1="40068" y1="50943" x2="40068" y2="50943"/>
                        <a14:foregroundMark x1="96233" y1="42710" x2="96233" y2="42710"/>
                        <a14:foregroundMark x1="6336" y1="38422" x2="6336" y2="38422"/>
                        <a14:foregroundMark x1="1199" y1="40137" x2="1199" y2="4013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050" b="22732"/>
          <a:stretch>
            <a:fillRect/>
          </a:stretch>
        </p:blipFill>
        <p:spPr>
          <a:xfrm>
            <a:off x="8271013" y="9985"/>
            <a:ext cx="3920987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846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A672B-4B0F-4416-9E7A-3ABE719E0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1935-CC38-4F64-A9FC-76EFF935A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DATA COLLECTION METHODOLOGY</a:t>
            </a:r>
          </a:p>
          <a:p>
            <a:r>
              <a:rPr lang="en-US" dirty="0"/>
              <a:t>DATA CLEANING AND PROCESSING</a:t>
            </a:r>
          </a:p>
          <a:p>
            <a:r>
              <a:rPr lang="en-US" dirty="0"/>
              <a:t>DATA VISUALIZATION</a:t>
            </a:r>
          </a:p>
          <a:p>
            <a:r>
              <a:rPr lang="en-US" dirty="0"/>
              <a:t>ANALYSIS OF FINDINGS</a:t>
            </a:r>
          </a:p>
          <a:p>
            <a:r>
              <a:rPr lang="en-US" dirty="0"/>
              <a:t>RECOMMENDATIONS</a:t>
            </a:r>
          </a:p>
          <a:p>
            <a:r>
              <a:rPr lang="en-US" dirty="0"/>
              <a:t>IDEAS FOR FUTURE WORK</a:t>
            </a:r>
          </a:p>
          <a:p>
            <a:r>
              <a:rPr lang="en-US" dirty="0"/>
              <a:t>CONCLUSION</a:t>
            </a:r>
          </a:p>
          <a:p>
            <a:r>
              <a:rPr lang="en-US" dirty="0"/>
              <a:t>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286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16EA8-87D2-4E74-9061-CEA0783AF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7B915-C065-4735-B715-D24F18368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none" strike="noStrike" dirty="0">
                <a:effectLst/>
                <a:latin typeface="Google Sans"/>
              </a:rPr>
              <a:t>Mental health is </a:t>
            </a:r>
            <a:r>
              <a:rPr lang="en-US" dirty="0"/>
              <a:t>a state of well-being that allows people to cope with stress, learn and work well, and help their community.</a:t>
            </a:r>
          </a:p>
          <a:p>
            <a:r>
              <a:rPr lang="en-US" dirty="0"/>
              <a:t>It includes emotional, psychological, and social well-being.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050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510D8-D495-4ED9-B248-6370D9774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850DC-D05A-4C6B-9ECE-9811DCEFA4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u="none" strike="noStrike" dirty="0">
                <a:effectLst/>
                <a:latin typeface="Google Sans"/>
              </a:rPr>
              <a:t>Over one billion people</a:t>
            </a:r>
            <a:r>
              <a:rPr lang="en-US" dirty="0"/>
              <a:t> globally—or roughly one in seven individuals—are struggling with mental health conditions, with anxiety and depression being the most common.</a:t>
            </a:r>
          </a:p>
          <a:p>
            <a:r>
              <a:rPr lang="en-US" dirty="0"/>
              <a:t>Approximately one in four Nigerians (over 40 to 50 million people) suffers from a mental health condition.</a:t>
            </a:r>
          </a:p>
          <a:p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Mental health professionals, workplaces, and educational institutions need better tools to identify individuals at higher risk of anxiety, depression, or stress-related issues.</a:t>
            </a:r>
          </a:p>
          <a:p>
            <a:r>
              <a:rPr lang="en-US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Translate these insights into practical prevention and support strategies.</a:t>
            </a:r>
          </a:p>
        </p:txBody>
      </p:sp>
    </p:spTree>
    <p:extLst>
      <p:ext uri="{BB962C8B-B14F-4D97-AF65-F5344CB8AC3E}">
        <p14:creationId xmlns:p14="http://schemas.microsoft.com/office/powerpoint/2010/main" val="1482835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11AE-6D3A-4E79-A6B6-7CB2B0E68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COLLECTION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DFBE7-EE9F-4D0F-BC73-3E8021C83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The dataset contains 25,000 records with structured features divided into five major categories:</a:t>
            </a:r>
            <a:endParaRPr lang="en-US" b="1" i="0" dirty="0">
              <a:solidFill>
                <a:srgbClr val="3C4043"/>
              </a:solidFill>
              <a:effectLst/>
              <a:latin typeface="inherit"/>
            </a:endParaRP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Demographic Information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age, gender, marital status, education level, and employment status.</a:t>
            </a:r>
            <a:endParaRPr lang="en-US" b="1" i="0" dirty="0">
              <a:solidFill>
                <a:srgbClr val="3C4043"/>
              </a:solidFill>
              <a:effectLst/>
              <a:latin typeface="inherit"/>
            </a:endParaRP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Lifestyle Factors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sleep duration, physical activity, screen time, and social support score.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Work &amp; Academic Stress Indicators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work stress level, academic pressure, job satisfaction, financial stress, and weekly working hours.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678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E94AC-4346-49F0-983D-D34BB768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COLLECTION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26708-0294-47EF-B12B-3F6848DB9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Psychological Indicators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anxiety score, depression score, overall stress level, mood swings frequency, concentration difficulty, and panic attack history.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Medical &amp; Family History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family history of mental illness, previous diagnosis, therapy history, and substance use.</a:t>
            </a:r>
          </a:p>
          <a:p>
            <a:pPr algn="l" fontAlgn="base"/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761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39089-16E8-4320-B163-11557D0B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COLLECTION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F651-261C-427E-B8CA-18B907E81D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Work &amp; Academic Stress Indicators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work stress level, academic pressure, job satisfaction, financial stress, and weekly working hours.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Psychological Indicators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anxiety score, depression score, overall stress level, mood swings frequency, concentration difficulty, and panic attack history.</a:t>
            </a:r>
          </a:p>
          <a:p>
            <a:pPr marL="0" indent="0" algn="l" fontAlgn="base">
              <a:buNone/>
            </a:pPr>
            <a:r>
              <a:rPr lang="en-US" b="1" i="0" dirty="0">
                <a:solidFill>
                  <a:srgbClr val="3C4043"/>
                </a:solidFill>
                <a:effectLst/>
                <a:latin typeface="inherit"/>
              </a:rPr>
              <a:t>Medical &amp; Family History</a:t>
            </a:r>
            <a:endParaRPr lang="en-US" b="0" i="0" dirty="0">
              <a:solidFill>
                <a:srgbClr val="3C4043"/>
              </a:solidFill>
              <a:effectLst/>
              <a:latin typeface="Inter"/>
            </a:endParaRPr>
          </a:p>
          <a:p>
            <a:pPr algn="l" fontAlgn="base"/>
            <a:r>
              <a:rPr lang="en-US" b="0" i="0" dirty="0">
                <a:solidFill>
                  <a:srgbClr val="3C4043"/>
                </a:solidFill>
                <a:effectLst/>
                <a:latin typeface="Inter"/>
              </a:rPr>
              <a:t>Includes family history of mental illness, previous diagnosis, therapy history, and substance use.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809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8CE4-D165-4841-8471-861C587F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 CLEANING AND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81A7A-7760-4378-B5D3-224D3470C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8" y="2101457"/>
            <a:ext cx="9603275" cy="345061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IMPORTING OF LIBRARIES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2C42E0-EB29-4434-BE00-19F86A075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754" y="2683602"/>
            <a:ext cx="6901061" cy="225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2670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5A1F4-E030-4906-A064-E266053D2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0A6B26-7502-4CFA-9886-7B94045F413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03810"/>
            <a:ext cx="4645025" cy="3063156"/>
          </a:xfr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FE7EA2D-26BC-4862-A201-1C3CC55499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5375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B1B9F-F630-4DF2-9197-C08C89E40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9D1E50-2EF4-4013-BF38-96BCAD6A5A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24865"/>
            <a:ext cx="4645025" cy="3021046"/>
          </a:xfr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EBAD1D90-4ED7-4312-AA25-3DA2BDFD1ED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671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DDA70-67CA-479C-9FAA-ED5A67B42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C8126B4-143B-42D0-8FDB-7D92230407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80796"/>
            <a:ext cx="4645025" cy="2909183"/>
          </a:xfr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A8D430A-F8A7-4D70-B4E9-A7E53B92EA9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62593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70B5-84A1-4DF7-89BF-18A83053D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3E95F8-268C-4A85-AC17-6CC56649962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10959"/>
            <a:ext cx="4645025" cy="3048858"/>
          </a:xfr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6F1834B9-5854-4068-AE9E-07D4B90E3FA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1214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4657C-5A0B-4061-8199-CFC303679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F97BBF-E6E9-41C8-A2E6-C7E0ACE0A2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47800" y="2271968"/>
            <a:ext cx="4645025" cy="2926839"/>
          </a:xfrm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83ADF44D-2CC9-49E4-A3EE-47FAF52D4C8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3361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4D418-5063-41F4-8D1E-C6CFE504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3999E9C3-3BB1-45D6-BFA7-37C83AB331F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7800" y="1864194"/>
            <a:ext cx="4645025" cy="418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464D5AD7-CC21-4209-8FC0-64BB5C46783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1864194"/>
            <a:ext cx="4645025" cy="4188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278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94A39-8579-4223-83B9-53A9BD94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9357B9D7-FDCE-4D56-BDFC-5155DD809CCD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06905" y="2011363"/>
            <a:ext cx="4126815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>
            <a:extLst>
              <a:ext uri="{FF2B5EF4-FFF2-40B4-BE49-F238E27FC236}">
                <a16:creationId xmlns:a16="http://schemas.microsoft.com/office/drawing/2014/main" id="{2836E631-A269-4BA3-9037-6DF34E2BA4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16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2972-9ABD-4859-A264-B7CDC5648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1DADAA09-A910-4AB0-A707-6E63DE133AAF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778816" y="2011363"/>
            <a:ext cx="3982992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85A313B7-5872-4FE4-9738-50B4405B6F1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0275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107B-9163-4A3F-9C39-9EFD693F1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ED302D5-F9DB-414B-91D7-B8F1D1D48EC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7800" y="2311536"/>
            <a:ext cx="4645025" cy="2847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40F07434-2343-4B83-A88D-C2F8CB371223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3500" y="2577307"/>
            <a:ext cx="4645025" cy="232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573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4F0D-5D4B-41C0-89DB-678DA132D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EBDAA85-DCB7-4EA1-A036-2EE31F66E13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47800" y="2522391"/>
            <a:ext cx="4645025" cy="2425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2" name="Picture 2">
            <a:extLst>
              <a:ext uri="{FF2B5EF4-FFF2-40B4-BE49-F238E27FC236}">
                <a16:creationId xmlns:a16="http://schemas.microsoft.com/office/drawing/2014/main" id="{368BBDA9-7717-4719-8A25-1574AF96843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764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1C88F-CF8D-4BC1-AD09-0AD739872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5880C84-C3B6-48EE-A870-3F0999151147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191" y="2011363"/>
            <a:ext cx="4516243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6" name="Picture 2">
            <a:extLst>
              <a:ext uri="{FF2B5EF4-FFF2-40B4-BE49-F238E27FC236}">
                <a16:creationId xmlns:a16="http://schemas.microsoft.com/office/drawing/2014/main" id="{6600AE60-6D2A-41C9-A437-A100842687F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183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5E9AD-897C-49AA-82FD-75249E129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VISUALIZATION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2B550556-044C-492A-B035-B15E7DB9FB78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12191" y="2011363"/>
            <a:ext cx="4516243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0" name="Picture 2">
            <a:extLst>
              <a:ext uri="{FF2B5EF4-FFF2-40B4-BE49-F238E27FC236}">
                <a16:creationId xmlns:a16="http://schemas.microsoft.com/office/drawing/2014/main" id="{80BA9842-A5B4-4773-AB54-1E666A745A2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1546" y="2017713"/>
            <a:ext cx="4588933" cy="344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3253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5AF99-4082-4F46-8DBE-6348D1EA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0F5C8-55CA-4B5B-B416-0D8E4C399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INDIVIDUALS</a:t>
            </a:r>
          </a:p>
          <a:p>
            <a:r>
              <a:rPr lang="en-US" dirty="0"/>
              <a:t>Get rest, engage in exercise, stay connected to people that care about you.</a:t>
            </a:r>
          </a:p>
          <a:p>
            <a:pPr marL="0" indent="0">
              <a:buNone/>
            </a:pPr>
            <a:r>
              <a:rPr lang="en-US" dirty="0"/>
              <a:t>EMPLOYERS AND INSTITUTIONS</a:t>
            </a:r>
          </a:p>
          <a:p>
            <a:r>
              <a:rPr lang="en-US" dirty="0"/>
              <a:t>Manage workloads, train leaders, offer flexibility.</a:t>
            </a:r>
          </a:p>
          <a:p>
            <a:pPr marL="0" indent="0">
              <a:buNone/>
            </a:pPr>
            <a:r>
              <a:rPr lang="en-US" dirty="0"/>
              <a:t>POLICY MAKERS AND EDUCATORS</a:t>
            </a:r>
          </a:p>
          <a:p>
            <a:r>
              <a:rPr lang="en-US" dirty="0"/>
              <a:t>Expand work force, organize mental health awareness campaigns across society.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895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59519-ACDA-429E-85B1-565369F63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IDEAS FOR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FD5DF-8EA3-4E90-A3C0-D61759F48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Longitudinal studies</a:t>
            </a:r>
          </a:p>
          <a:p>
            <a:r>
              <a:rPr lang="en-US" dirty="0"/>
              <a:t>Predictive modeling</a:t>
            </a:r>
          </a:p>
          <a:p>
            <a:r>
              <a:rPr lang="en-US" dirty="0"/>
              <a:t>Intervention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710099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BD53F-18C9-4A37-BA85-ABB6A39B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EC84-04AE-4EFA-B652-4DA4216AC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Mental health risk factors and also Identity of individual at high risk of mental health condition were successfully identified based on the dataset provided.</a:t>
            </a:r>
          </a:p>
          <a:p>
            <a:r>
              <a:rPr lang="en-US" dirty="0"/>
              <a:t>Real time data on mental health is crucial as it transforms how clinical psychology, psychiatry, and public health systems identify risks, deliver treatments, and evaluate policy outcomes.</a:t>
            </a:r>
          </a:p>
        </p:txBody>
      </p:sp>
    </p:spTree>
    <p:extLst>
      <p:ext uri="{BB962C8B-B14F-4D97-AF65-F5344CB8AC3E}">
        <p14:creationId xmlns:p14="http://schemas.microsoft.com/office/powerpoint/2010/main" val="2005235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9A514-971B-4C4C-9588-E6AEE08B1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E10FB-7864-4166-BD31-A96DBB9938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NOTE</a:t>
            </a:r>
          </a:p>
          <a:p>
            <a:r>
              <a:rPr lang="en-US" dirty="0"/>
              <a:t>GEEKSFORGEEKS</a:t>
            </a:r>
          </a:p>
          <a:p>
            <a:r>
              <a:rPr lang="en-US" dirty="0"/>
              <a:t>WHO</a:t>
            </a:r>
          </a:p>
          <a:p>
            <a:r>
              <a:rPr lang="en-US" dirty="0"/>
              <a:t>YouTube</a:t>
            </a:r>
          </a:p>
          <a:p>
            <a:r>
              <a:rPr lang="en-US"/>
              <a:t>Kaggle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0399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4C407D-0133-45B8-B09B-C1F3FC3D7F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842" y="37327"/>
            <a:ext cx="10162315" cy="605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160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15114</TotalTime>
  <Words>517</Words>
  <Application>Microsoft Office PowerPoint</Application>
  <PresentationFormat>Widescreen</PresentationFormat>
  <Paragraphs>78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Gill Sans MT</vt:lpstr>
      <vt:lpstr>Google Sans</vt:lpstr>
      <vt:lpstr>inherit</vt:lpstr>
      <vt:lpstr>Inter</vt:lpstr>
      <vt:lpstr>Gallery</vt:lpstr>
      <vt:lpstr>UNDERSTANDING MENTAL HEALTH RISK FACTORS AMONG ADULTS</vt:lpstr>
      <vt:lpstr>OUTLINE</vt:lpstr>
      <vt:lpstr>INTRODUCTION</vt:lpstr>
      <vt:lpstr>Problem statement</vt:lpstr>
      <vt:lpstr>DATA COLLECTION METHODOLOGY</vt:lpstr>
      <vt:lpstr>DATA COLLECTION METHODOLOGY</vt:lpstr>
      <vt:lpstr>DATA COLLECTION METHODOLOGY</vt:lpstr>
      <vt:lpstr>DATA CLEANING AND PROCESSING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DATA VISUALIZATION</vt:lpstr>
      <vt:lpstr>RECOMMENDATION</vt:lpstr>
      <vt:lpstr>IDEAS FOR FUTURE WORK</vt:lpstr>
      <vt:lpstr>CONCLUSION</vt:lpstr>
      <vt:lpstr>RESOURCES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MENTAL HEALTH RISK FACTORS AMONG ADULTS</dc:title>
  <dc:creator>Joseph Tete</dc:creator>
  <cp:lastModifiedBy>Joseph Tete</cp:lastModifiedBy>
  <cp:revision>44</cp:revision>
  <dcterms:created xsi:type="dcterms:W3CDTF">2026-07-25T09:04:27Z</dcterms:created>
  <dcterms:modified xsi:type="dcterms:W3CDTF">2026-09-06T11:44:47Z</dcterms:modified>
</cp:coreProperties>
</file>