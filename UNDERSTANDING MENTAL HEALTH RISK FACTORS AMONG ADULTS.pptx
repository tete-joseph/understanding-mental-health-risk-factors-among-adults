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1" r:id="rId5"/>
    <p:sldId id="264" r:id="rId6"/>
    <p:sldId id="265" r:id="rId7"/>
    <p:sldId id="274" r:id="rId8"/>
    <p:sldId id="276" r:id="rId9"/>
    <p:sldId id="282" r:id="rId10"/>
    <p:sldId id="283" r:id="rId11"/>
    <p:sldId id="292" r:id="rId12"/>
    <p:sldId id="287" r:id="rId13"/>
    <p:sldId id="288" r:id="rId14"/>
    <p:sldId id="289" r:id="rId15"/>
    <p:sldId id="291" r:id="rId16"/>
    <p:sldId id="29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35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04D3A-9AFE-4BE8-AD82-D526D3876E81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47007FB6-BBDB-40D6-8E4E-551C92BA742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961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04D3A-9AFE-4BE8-AD82-D526D3876E81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007FB6-BBDB-40D6-8E4E-551C92BA7428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746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04D3A-9AFE-4BE8-AD82-D526D3876E81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007FB6-BBDB-40D6-8E4E-551C92BA742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7937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04D3A-9AFE-4BE8-AD82-D526D3876E81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007FB6-BBDB-40D6-8E4E-551C92BA7428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1891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04D3A-9AFE-4BE8-AD82-D526D3876E81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007FB6-BBDB-40D6-8E4E-551C92BA7428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714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04D3A-9AFE-4BE8-AD82-D526D3876E81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007FB6-BBDB-40D6-8E4E-551C92BA7428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3733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04D3A-9AFE-4BE8-AD82-D526D3876E81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007FB6-BBDB-40D6-8E4E-551C92BA74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601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04D3A-9AFE-4BE8-AD82-D526D3876E81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007FB6-BBDB-40D6-8E4E-551C92BA7428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683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80404D3A-9AFE-4BE8-AD82-D526D3876E81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007FB6-BBDB-40D6-8E4E-551C92BA7428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5976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04D3A-9AFE-4BE8-AD82-D526D3876E81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007FB6-BBDB-40D6-8E4E-551C92BA7428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0235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04D3A-9AFE-4BE8-AD82-D526D3876E81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007FB6-BBDB-40D6-8E4E-551C92BA742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022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04D3A-9AFE-4BE8-AD82-D526D3876E81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47007FB6-BBDB-40D6-8E4E-551C92BA7428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5590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://localhost:8888/notebooks/Project.ipynb?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56D44-D3F0-405D-8E0B-F3B5305319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b="1" dirty="0"/>
              <a:t>UNDERSTANDING MENTAL HEALTH RISK FACTORS AMONG ADULTS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C452D8-6239-4DA2-B245-41010F303F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2326671"/>
          </a:xfrm>
        </p:spPr>
        <p:txBody>
          <a:bodyPr>
            <a:normAutofit lnSpcReduction="10000"/>
          </a:bodyPr>
          <a:lstStyle/>
          <a:p>
            <a:pPr algn="ctr"/>
            <a:r>
              <a:rPr lang="en-US" dirty="0"/>
              <a:t>PRESENTED BY;</a:t>
            </a:r>
          </a:p>
          <a:p>
            <a:pPr algn="ctr"/>
            <a:r>
              <a:rPr lang="en-US" dirty="0"/>
              <a:t>TETE J. TEDI</a:t>
            </a:r>
          </a:p>
          <a:p>
            <a:pPr algn="ctr"/>
            <a:r>
              <a:rPr lang="en-US" dirty="0"/>
              <a:t>SUPERVISED BY;</a:t>
            </a:r>
          </a:p>
          <a:p>
            <a:pPr algn="ctr"/>
            <a:r>
              <a:rPr lang="en-US" dirty="0"/>
              <a:t>ANALYST FLORENCE </a:t>
            </a:r>
          </a:p>
          <a:p>
            <a:pPr algn="ctr"/>
            <a:r>
              <a:rPr lang="en-US" dirty="0"/>
              <a:t>July, 2026.</a:t>
            </a:r>
          </a:p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4CD6BD-8E53-401C-94D2-54F7B9BB2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49" b="89880" l="1199" r="96233">
                        <a14:foregroundMark x1="40068" y1="50943" x2="40068" y2="50943"/>
                        <a14:foregroundMark x1="96233" y1="42710" x2="96233" y2="42710"/>
                        <a14:foregroundMark x1="6336" y1="38422" x2="6336" y2="38422"/>
                        <a14:foregroundMark x1="1199" y1="40137" x2="1199" y2="4013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2050" b="22732"/>
          <a:stretch>
            <a:fillRect/>
          </a:stretch>
        </p:blipFill>
        <p:spPr>
          <a:xfrm>
            <a:off x="8271013" y="9985"/>
            <a:ext cx="3920987" cy="1209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584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A672B-4B0F-4416-9E7A-3ABE719E0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61935-CC38-4F64-A9FC-76EFF935A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DATA COLLECTION METHODOLOGY</a:t>
            </a:r>
          </a:p>
          <a:p>
            <a:r>
              <a:rPr lang="en-US" dirty="0"/>
              <a:t>DATA CLEANING AND PROCESSING</a:t>
            </a:r>
          </a:p>
          <a:p>
            <a:r>
              <a:rPr lang="en-US" dirty="0"/>
              <a:t>DATA VISUALIZATION</a:t>
            </a:r>
          </a:p>
          <a:p>
            <a:r>
              <a:rPr lang="en-US" dirty="0"/>
              <a:t>ANALYSIS OF FINDINGS</a:t>
            </a:r>
          </a:p>
          <a:p>
            <a:r>
              <a:rPr lang="en-US" dirty="0"/>
              <a:t>RECOMMENDATIONS</a:t>
            </a:r>
          </a:p>
          <a:p>
            <a:r>
              <a:rPr lang="en-US" dirty="0"/>
              <a:t>IDEAS FOR FUTURE WORK</a:t>
            </a:r>
          </a:p>
          <a:p>
            <a:r>
              <a:rPr lang="en-US" dirty="0"/>
              <a:t>CONCLUSION</a:t>
            </a:r>
          </a:p>
          <a:p>
            <a:r>
              <a:rPr lang="en-US" dirty="0"/>
              <a:t>SOURCES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3286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16EA8-87D2-4E74-9061-CEA0783AF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7B915-C065-4735-B715-D24F18368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u="none" strike="noStrike" dirty="0">
                <a:effectLst/>
                <a:latin typeface="Google Sans"/>
              </a:rPr>
              <a:t>Mental health is </a:t>
            </a:r>
            <a:r>
              <a:rPr lang="en-US" dirty="0"/>
              <a:t>a state of well-being that allows people to cope with stress, learn and work well, and help their community.</a:t>
            </a:r>
          </a:p>
          <a:p>
            <a:r>
              <a:rPr lang="en-US" dirty="0"/>
              <a:t>It includes emotional, psychological, and social well-being.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050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510D8-D495-4ED9-B248-6370D9774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850DC-D05A-4C6B-9ECE-9811DCEFA4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u="none" strike="noStrike" dirty="0">
                <a:effectLst/>
                <a:latin typeface="Google Sans"/>
              </a:rPr>
              <a:t>Over one billion people</a:t>
            </a:r>
            <a:r>
              <a:rPr lang="en-US" dirty="0"/>
              <a:t> globally or roughly one in seven individuals are struggling with mental health conditions, with anxiety and depression being the most common.</a:t>
            </a:r>
          </a:p>
          <a:p>
            <a:r>
              <a:rPr lang="en-US" dirty="0"/>
              <a:t>Approximately one in four Nigerians (over 40 to 50 million people) suffers from a mental health condition.</a:t>
            </a:r>
          </a:p>
          <a:p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Mental health professionals, workplaces, and educational institutions need better tools to identify individuals at higher risk of anxiety, depression, or stress-related issues.</a:t>
            </a:r>
          </a:p>
          <a:p>
            <a:r>
              <a:rPr lang="en-US" sz="20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Translate these insights into practical prevention and support strategies.</a:t>
            </a:r>
          </a:p>
        </p:txBody>
      </p:sp>
    </p:spTree>
    <p:extLst>
      <p:ext uri="{BB962C8B-B14F-4D97-AF65-F5344CB8AC3E}">
        <p14:creationId xmlns:p14="http://schemas.microsoft.com/office/powerpoint/2010/main" val="1482835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111AE-6D3A-4E79-A6B6-7CB2B0E68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DATA COLLECTION METHODOLOGY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DFBE7-EE9F-4D0F-BC73-3E8021C839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fontAlgn="base">
              <a:buNone/>
            </a:pPr>
            <a:r>
              <a:rPr lang="en-US" b="0" i="0" dirty="0">
                <a:solidFill>
                  <a:srgbClr val="3C4043"/>
                </a:solidFill>
                <a:effectLst/>
                <a:latin typeface="Inter"/>
              </a:rPr>
              <a:t>The dataset contains 25,000 records with structured features divided into five major categories:</a:t>
            </a:r>
            <a:endParaRPr lang="en-US" b="1" i="0" dirty="0">
              <a:solidFill>
                <a:srgbClr val="3C4043"/>
              </a:solidFill>
              <a:effectLst/>
              <a:latin typeface="inherit"/>
            </a:endParaRPr>
          </a:p>
          <a:p>
            <a:pPr marL="0" indent="0" algn="l" fontAlgn="base">
              <a:buNone/>
            </a:pPr>
            <a:r>
              <a:rPr lang="en-US" b="1" i="0" dirty="0">
                <a:solidFill>
                  <a:srgbClr val="3C4043"/>
                </a:solidFill>
                <a:effectLst/>
                <a:latin typeface="inherit"/>
              </a:rPr>
              <a:t>Demographic Information</a:t>
            </a:r>
            <a:endParaRPr lang="en-US" b="0" i="0" dirty="0">
              <a:solidFill>
                <a:srgbClr val="3C4043"/>
              </a:solidFill>
              <a:effectLst/>
              <a:latin typeface="Inter"/>
            </a:endParaRPr>
          </a:p>
          <a:p>
            <a:pPr algn="l" fontAlgn="base"/>
            <a:r>
              <a:rPr lang="en-US" b="0" i="0" dirty="0">
                <a:solidFill>
                  <a:srgbClr val="3C4043"/>
                </a:solidFill>
                <a:effectLst/>
                <a:latin typeface="Inter"/>
              </a:rPr>
              <a:t>Includes age, gender, marital status, education level, and employment status.</a:t>
            </a:r>
            <a:endParaRPr lang="en-US" b="1" i="0" dirty="0">
              <a:solidFill>
                <a:srgbClr val="3C4043"/>
              </a:solidFill>
              <a:effectLst/>
              <a:latin typeface="inherit"/>
            </a:endParaRPr>
          </a:p>
          <a:p>
            <a:pPr marL="0" indent="0" algn="l" fontAlgn="base">
              <a:buNone/>
            </a:pPr>
            <a:r>
              <a:rPr lang="en-US" b="1" i="0" dirty="0">
                <a:solidFill>
                  <a:srgbClr val="3C4043"/>
                </a:solidFill>
                <a:effectLst/>
                <a:latin typeface="inherit"/>
              </a:rPr>
              <a:t>Lifestyle Factors</a:t>
            </a:r>
            <a:endParaRPr lang="en-US" b="0" i="0" dirty="0">
              <a:solidFill>
                <a:srgbClr val="3C4043"/>
              </a:solidFill>
              <a:effectLst/>
              <a:latin typeface="Inter"/>
            </a:endParaRPr>
          </a:p>
          <a:p>
            <a:pPr algn="l" fontAlgn="base"/>
            <a:r>
              <a:rPr lang="en-US" b="0" i="0" dirty="0">
                <a:solidFill>
                  <a:srgbClr val="3C4043"/>
                </a:solidFill>
                <a:effectLst/>
                <a:latin typeface="Inter"/>
              </a:rPr>
              <a:t>Includes sleep duration, physical activity, screen time, and social support score.</a:t>
            </a:r>
          </a:p>
          <a:p>
            <a:pPr marL="0" indent="0" algn="l" fontAlgn="base">
              <a:buNone/>
            </a:pPr>
            <a:r>
              <a:rPr lang="en-US" b="1" i="0" dirty="0">
                <a:solidFill>
                  <a:srgbClr val="3C4043"/>
                </a:solidFill>
                <a:effectLst/>
                <a:latin typeface="inherit"/>
              </a:rPr>
              <a:t>Work &amp; Academic Stress Indicators</a:t>
            </a:r>
            <a:endParaRPr lang="en-US" b="0" i="0" dirty="0">
              <a:solidFill>
                <a:srgbClr val="3C4043"/>
              </a:solidFill>
              <a:effectLst/>
              <a:latin typeface="Inter"/>
            </a:endParaRPr>
          </a:p>
          <a:p>
            <a:pPr algn="l" fontAlgn="base"/>
            <a:r>
              <a:rPr lang="en-US" b="0" i="0" dirty="0">
                <a:solidFill>
                  <a:srgbClr val="3C4043"/>
                </a:solidFill>
                <a:effectLst/>
                <a:latin typeface="Inter"/>
              </a:rPr>
              <a:t>Includes work stress level, academic pressure, job satisfaction, financial stress, and weekly working hours.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678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E94AC-4346-49F0-983D-D34BB768A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DATA COLLECTION METHODOLOGY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26708-0294-47EF-B12B-3F6848DB9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l" fontAlgn="base">
              <a:buNone/>
            </a:pPr>
            <a:r>
              <a:rPr lang="en-US" b="1" i="0" dirty="0">
                <a:solidFill>
                  <a:srgbClr val="3C4043"/>
                </a:solidFill>
                <a:effectLst/>
                <a:latin typeface="inherit"/>
              </a:rPr>
              <a:t>Psychological Indicators</a:t>
            </a:r>
            <a:endParaRPr lang="en-US" b="0" i="0" dirty="0">
              <a:solidFill>
                <a:srgbClr val="3C4043"/>
              </a:solidFill>
              <a:effectLst/>
              <a:latin typeface="Inter"/>
            </a:endParaRPr>
          </a:p>
          <a:p>
            <a:pPr algn="l" fontAlgn="base"/>
            <a:r>
              <a:rPr lang="en-US" b="0" i="0" dirty="0">
                <a:solidFill>
                  <a:srgbClr val="3C4043"/>
                </a:solidFill>
                <a:effectLst/>
                <a:latin typeface="Inter"/>
              </a:rPr>
              <a:t>Includes anxiety score, depression score, overall stress level, mood swings frequency, concentration difficulty, and panic attack history.</a:t>
            </a:r>
          </a:p>
          <a:p>
            <a:pPr marL="0" indent="0" algn="l" fontAlgn="base">
              <a:buNone/>
            </a:pPr>
            <a:r>
              <a:rPr lang="en-US" b="1" i="0" dirty="0">
                <a:solidFill>
                  <a:srgbClr val="3C4043"/>
                </a:solidFill>
                <a:effectLst/>
                <a:latin typeface="inherit"/>
              </a:rPr>
              <a:t>Medical &amp; Family History</a:t>
            </a:r>
            <a:endParaRPr lang="en-US" b="0" i="0" dirty="0">
              <a:solidFill>
                <a:srgbClr val="3C4043"/>
              </a:solidFill>
              <a:effectLst/>
              <a:latin typeface="Inter"/>
            </a:endParaRPr>
          </a:p>
          <a:p>
            <a:pPr algn="l" fontAlgn="base"/>
            <a:r>
              <a:rPr lang="en-US" b="0" i="0" dirty="0">
                <a:solidFill>
                  <a:srgbClr val="3C4043"/>
                </a:solidFill>
                <a:effectLst/>
                <a:latin typeface="Inter"/>
              </a:rPr>
              <a:t>Includes family history of mental illness, previous diagnosis, therapy history, and substance use.</a:t>
            </a:r>
          </a:p>
          <a:p>
            <a:pPr algn="l" fontAlgn="base"/>
            <a:endParaRPr lang="en-US" b="0" i="0" dirty="0">
              <a:solidFill>
                <a:srgbClr val="3C4043"/>
              </a:solidFill>
              <a:effectLst/>
              <a:latin typeface="Inter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6761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5A1F4-E030-4906-A064-E266053D2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DATA VISUALIZATION</a:t>
            </a:r>
            <a:br>
              <a:rPr lang="en-US" dirty="0"/>
            </a:br>
            <a:r>
              <a:rPr lang="en-US" dirty="0"/>
              <a:t>DISTRIBUTION BASED ON SLEEP HOURS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A0A6B26-7502-4CFA-9886-7B94045F4138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/>
          <a:stretch>
            <a:fillRect/>
          </a:stretch>
        </p:blipFill>
        <p:spPr>
          <a:xfrm>
            <a:off x="3067050" y="2476499"/>
            <a:ext cx="6838950" cy="3576981"/>
          </a:xfrm>
        </p:spPr>
      </p:pic>
    </p:spTree>
    <p:extLst>
      <p:ext uri="{BB962C8B-B14F-4D97-AF65-F5344CB8AC3E}">
        <p14:creationId xmlns:p14="http://schemas.microsoft.com/office/powerpoint/2010/main" val="3505375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DDA70-67CA-479C-9FAA-ED5A67B42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DATA VISUALIZATION</a:t>
            </a:r>
            <a:br>
              <a:rPr lang="en-US" dirty="0"/>
            </a:br>
            <a:r>
              <a:rPr lang="en-US" dirty="0"/>
              <a:t>DISTRIBUTION BASED ON STRESS LEVEL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C8126B4-143B-42D0-8FDB-7D92230407FF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/>
          <a:stretch>
            <a:fillRect/>
          </a:stretch>
        </p:blipFill>
        <p:spPr>
          <a:xfrm>
            <a:off x="2714625" y="2271713"/>
            <a:ext cx="7543800" cy="3662362"/>
          </a:xfrm>
        </p:spPr>
      </p:pic>
    </p:spTree>
    <p:extLst>
      <p:ext uri="{BB962C8B-B14F-4D97-AF65-F5344CB8AC3E}">
        <p14:creationId xmlns:p14="http://schemas.microsoft.com/office/powerpoint/2010/main" val="32862593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107B-9163-4A3F-9C39-9EFD693F1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DATA VISUALIZATION</a:t>
            </a:r>
            <a:br>
              <a:rPr lang="en-US" dirty="0"/>
            </a:br>
            <a:r>
              <a:rPr lang="en-US" dirty="0"/>
              <a:t>DISTRIBUTION BASED ON EMPLOYMENT </a:t>
            </a:r>
            <a:r>
              <a:rPr lang="en-US" dirty="0" err="1"/>
              <a:t>sTatus</a:t>
            </a:r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4ED302D5-F9DB-414B-91D7-B8F1D1D48EC7}"/>
              </a:ext>
            </a:extLst>
          </p:cNvPr>
          <p:cNvPicPr>
            <a:picLocks noGrp="1" noChangeAspect="1" noChangeArrowheads="1"/>
          </p:cNvPicPr>
          <p:nvPr>
            <p:ph sz="half"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333625" y="2156272"/>
            <a:ext cx="7705725" cy="3897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6573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64F0D-5D4B-41C0-89DB-678DA132D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DATA VISUALIZATION</a:t>
            </a:r>
            <a:br>
              <a:rPr lang="en-US" dirty="0"/>
            </a:br>
            <a:r>
              <a:rPr lang="en-US" dirty="0"/>
              <a:t>distribution based on substance use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EBDAA85-DCB7-4EA1-A036-2EE31F66E13B}"/>
              </a:ext>
            </a:extLst>
          </p:cNvPr>
          <p:cNvPicPr>
            <a:picLocks noGrp="1" noChangeAspect="1" noChangeArrowheads="1"/>
          </p:cNvPicPr>
          <p:nvPr>
            <p:ph sz="half"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695575" y="1853754"/>
            <a:ext cx="7086600" cy="4280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07644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47E802A-20D0-402B-8647-ABC9C488C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dirty="0"/>
              <a:t>DATA VISUALIZATION</a:t>
            </a:r>
            <a:br>
              <a:rPr lang="en-US" dirty="0"/>
            </a:br>
            <a:r>
              <a:rPr lang="en-US" sz="2700" dirty="0"/>
              <a:t>DISTRIBUTION BASED ON family history of mental illness</a:t>
            </a: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83A70C16-FF9A-4740-94AA-37EC975209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2266950" cy="2266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A229ABBA-A633-4B29-A6E4-40D1E8CF40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359D793-F6F3-485F-BDEB-1ED9EAC66E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62176" y="2206625"/>
            <a:ext cx="9391650" cy="3846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265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5AF99-4082-4F46-8DBE-6348D1EA9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RECOMMENDATION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0F5C8-55CA-4B5B-B416-0D8E4C399B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INDIVIDUALS</a:t>
            </a:r>
          </a:p>
          <a:p>
            <a:r>
              <a:rPr lang="en-US" dirty="0"/>
              <a:t>Get rest, engage in exercise, stay connected to people that care about you.</a:t>
            </a:r>
          </a:p>
          <a:p>
            <a:pPr marL="0" indent="0">
              <a:buNone/>
            </a:pPr>
            <a:r>
              <a:rPr lang="en-US" dirty="0"/>
              <a:t>EMPLOYERS AND INSTITUTIONS</a:t>
            </a:r>
          </a:p>
          <a:p>
            <a:r>
              <a:rPr lang="en-US" dirty="0"/>
              <a:t>Manage workloads, train leaders, offer flexibility.</a:t>
            </a:r>
          </a:p>
          <a:p>
            <a:pPr marL="0" indent="0">
              <a:buNone/>
            </a:pPr>
            <a:r>
              <a:rPr lang="en-US" dirty="0"/>
              <a:t>POLICY MAKERS AND EDUCATORS</a:t>
            </a:r>
          </a:p>
          <a:p>
            <a:r>
              <a:rPr lang="en-US" dirty="0"/>
              <a:t>Expand work force, organize mental health awareness campaigns across society.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8959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59519-ACDA-429E-85B1-565369F63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IDEAS FOR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FD5DF-8EA3-4E90-A3C0-D61759F480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Longitudinal studies</a:t>
            </a:r>
          </a:p>
          <a:p>
            <a:r>
              <a:rPr lang="en-US" dirty="0"/>
              <a:t>Predictive modeling</a:t>
            </a:r>
          </a:p>
          <a:p>
            <a:r>
              <a:rPr lang="en-US" dirty="0"/>
              <a:t>Intervention evaluation</a:t>
            </a:r>
          </a:p>
        </p:txBody>
      </p:sp>
    </p:spTree>
    <p:extLst>
      <p:ext uri="{BB962C8B-B14F-4D97-AF65-F5344CB8AC3E}">
        <p14:creationId xmlns:p14="http://schemas.microsoft.com/office/powerpoint/2010/main" val="17100994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BD53F-18C9-4A37-BA85-ABB6A39B8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9EC84-04AE-4EFA-B652-4DA4216AC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Mental health risk factors and also Identity of individual at high risk of mental health condition were successfully identified based on the dataset provided.</a:t>
            </a:r>
          </a:p>
          <a:p>
            <a:r>
              <a:rPr lang="en-US" dirty="0"/>
              <a:t>Real time data on mental health is crucial as it transforms how clinical psychology, psychiatry, and public health systems identify risks, deliver treatments, and evaluate policy outcomes.</a:t>
            </a:r>
          </a:p>
        </p:txBody>
      </p:sp>
    </p:spTree>
    <p:extLst>
      <p:ext uri="{BB962C8B-B14F-4D97-AF65-F5344CB8AC3E}">
        <p14:creationId xmlns:p14="http://schemas.microsoft.com/office/powerpoint/2010/main" val="20052350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9A514-971B-4C4C-9588-E6AEE08B1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14756"/>
          </a:xfrm>
        </p:spPr>
        <p:txBody>
          <a:bodyPr/>
          <a:lstStyle/>
          <a:p>
            <a:pPr algn="ctr"/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E10FB-7864-4166-BD31-A96DBB993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3"/>
            <a:ext cx="9603275" cy="3518292"/>
          </a:xfrm>
        </p:spPr>
        <p:txBody>
          <a:bodyPr>
            <a:normAutofit/>
          </a:bodyPr>
          <a:lstStyle/>
          <a:p>
            <a:r>
              <a:rPr lang="en-US" dirty="0"/>
              <a:t>CLASS NOTE</a:t>
            </a:r>
          </a:p>
          <a:p>
            <a:r>
              <a:rPr lang="en-US" dirty="0"/>
              <a:t>GEEKSFORGEEKS</a:t>
            </a:r>
          </a:p>
          <a:p>
            <a:r>
              <a:rPr lang="en-US" dirty="0"/>
              <a:t>WHO</a:t>
            </a:r>
          </a:p>
          <a:p>
            <a:r>
              <a:rPr lang="en-US" dirty="0"/>
              <a:t>YouTube</a:t>
            </a:r>
          </a:p>
          <a:p>
            <a:r>
              <a:rPr lang="en-US" dirty="0"/>
              <a:t>Kaggle</a:t>
            </a:r>
          </a:p>
          <a:p>
            <a:endParaRPr lang="en-US" dirty="0"/>
          </a:p>
        </p:txBody>
      </p:sp>
      <p:pic>
        <p:nvPicPr>
          <p:cNvPr id="5" name="Graphic 4" descr="Atom with solid fill">
            <a:hlinkClick r:id="rId2"/>
            <a:extLst>
              <a:ext uri="{FF2B5EF4-FFF2-40B4-BE49-F238E27FC236}">
                <a16:creationId xmlns:a16="http://schemas.microsoft.com/office/drawing/2014/main" id="{9774CE76-BEED-4BB0-AA99-D536E96FB5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34725" y="513908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0399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4C407D-0133-45B8-B09B-C1F3FC3D7F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42" y="304027"/>
            <a:ext cx="10162315" cy="6058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41603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40852</TotalTime>
  <Words>454</Words>
  <Application>Microsoft Office PowerPoint</Application>
  <PresentationFormat>Widescreen</PresentationFormat>
  <Paragraphs>62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Gill Sans MT</vt:lpstr>
      <vt:lpstr>Google Sans</vt:lpstr>
      <vt:lpstr>inherit</vt:lpstr>
      <vt:lpstr>Inter</vt:lpstr>
      <vt:lpstr>Gallery</vt:lpstr>
      <vt:lpstr>UNDERSTANDING MENTAL HEALTH RISK FACTORS AMONG ADULTS</vt:lpstr>
      <vt:lpstr>OUTLINE</vt:lpstr>
      <vt:lpstr>INTRODUCTION</vt:lpstr>
      <vt:lpstr>Problem statement</vt:lpstr>
      <vt:lpstr>DATA COLLECTION METHODOLOGY</vt:lpstr>
      <vt:lpstr>DATA COLLECTION METHODOLOGY</vt:lpstr>
      <vt:lpstr>DATA VISUALIZATION DISTRIBUTION BASED ON SLEEP HOURS</vt:lpstr>
      <vt:lpstr>DATA VISUALIZATION DISTRIBUTION BASED ON STRESS LEVEL</vt:lpstr>
      <vt:lpstr>DATA VISUALIZATION DISTRIBUTION BASED ON EMPLOYMENT sTatus</vt:lpstr>
      <vt:lpstr>DATA VISUALIZATION distribution based on substance use</vt:lpstr>
      <vt:lpstr>DATA VISUALIZATION DISTRIBUTION BASED ON family history of mental illness</vt:lpstr>
      <vt:lpstr>RECOMMENDATION</vt:lpstr>
      <vt:lpstr>IDEAS FOR FUTURE WORK</vt:lpstr>
      <vt:lpstr>CONCLUSION</vt:lpstr>
      <vt:lpstr>RESOURCES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UNDERSTANDING MENTAL HEALTH RISK FACTORS AMONG ADULTS</dc:title>
  <dc:creator>Joseph Tete</dc:creator>
  <cp:lastModifiedBy>Joseph Tete</cp:lastModifiedBy>
  <cp:revision>57</cp:revision>
  <dcterms:created xsi:type="dcterms:W3CDTF">2026-07-25T09:04:27Z</dcterms:created>
  <dcterms:modified xsi:type="dcterms:W3CDTF">2026-09-24T08:43:01Z</dcterms:modified>
</cp:coreProperties>
</file>